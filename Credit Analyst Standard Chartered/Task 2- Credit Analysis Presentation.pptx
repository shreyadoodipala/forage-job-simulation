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6" r:id="rId9"/>
    <p:sldId id="264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628" autoAdjust="0"/>
  </p:normalViewPr>
  <p:slideViewPr>
    <p:cSldViewPr snapToGrid="0">
      <p:cViewPr varScale="1">
        <p:scale>
          <a:sx n="57" d="100"/>
          <a:sy n="57" d="100"/>
        </p:scale>
        <p:origin x="9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7D475-E028-467A-AD8E-D4A92887538D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B48BA3-9AEE-42C6-B851-2722C9335B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28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Darren. Today, I am evaluating a credit facility expansion for </a:t>
            </a:r>
            <a:r>
              <a:rPr lang="en-US" b="1" dirty="0"/>
              <a:t>Green Solutions Manufacturing Ltd, </a:t>
            </a:r>
            <a:r>
              <a:rPr lang="en-US" dirty="0"/>
              <a:t>one of our long-standing clients in the sustainability sector.</a:t>
            </a:r>
          </a:p>
          <a:p>
            <a:r>
              <a:rPr lang="en-US" dirty="0"/>
              <a:t>They are looking to expand their sustainable manufacturing capabilities. My assessment covers their impressive 2023 financial performance, key industry tailwinds, and macroeconomic risks to demonstrate why this is a highly viable credit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40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Solutions Manufacturing is a global leader in eco-friendly, reusable drinkware (water bottles and coffee cups), serving over 50 million customers. Its headquarters is in UK. </a:t>
            </a:r>
            <a:r>
              <a:rPr lang="en-GB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company has heavily invested in sustainable, eco-friendly production, updating machinery and processes, and leading R&amp;D in sustainability. </a:t>
            </a:r>
            <a:r>
              <a:rPr lang="en-US" dirty="0"/>
              <a:t>They are heavily committed to green tech. Since 2022, they’ve boosted sustainability capital expenditure by </a:t>
            </a:r>
            <a:r>
              <a:rPr lang="en-US" b="1" dirty="0"/>
              <a:t>150%</a:t>
            </a:r>
            <a:r>
              <a:rPr lang="en-US" dirty="0"/>
              <a:t>, funded through a healthy mix of internal cash and external debt.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16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Looking at the numbers, 2023 was a breakout year for their bottom line.</a:t>
            </a:r>
          </a:p>
          <a:p>
            <a:r>
              <a:rPr lang="en-US" b="1" dirty="0"/>
              <a:t>Revenue</a:t>
            </a:r>
            <a:r>
              <a:rPr lang="en-US" dirty="0"/>
              <a:t> jumped </a:t>
            </a:r>
            <a:r>
              <a:rPr lang="en-US" b="1" dirty="0"/>
              <a:t>70.7%</a:t>
            </a:r>
            <a:r>
              <a:rPr lang="en-US" dirty="0"/>
              <a:t>—from £31.5 million to £53.8 million.</a:t>
            </a:r>
          </a:p>
          <a:p>
            <a:r>
              <a:rPr lang="en-US" b="1" dirty="0"/>
              <a:t>Net Profit</a:t>
            </a:r>
            <a:r>
              <a:rPr lang="en-US" dirty="0"/>
              <a:t> skyrocketed over </a:t>
            </a:r>
            <a:r>
              <a:rPr lang="en-US" b="1" dirty="0"/>
              <a:t>sixfold</a:t>
            </a:r>
            <a:r>
              <a:rPr lang="en-US" dirty="0"/>
              <a:t>, reaching £5.6 million.</a:t>
            </a:r>
          </a:p>
          <a:p>
            <a:r>
              <a:rPr lang="en-US" b="1" dirty="0"/>
              <a:t>Margins &amp; Returns:</a:t>
            </a:r>
            <a:r>
              <a:rPr lang="en-US" dirty="0"/>
              <a:t> Operating margins nearly doubled, and we saw sharp increases in both ROA and ROE.</a:t>
            </a:r>
          </a:p>
          <a:p>
            <a:r>
              <a:rPr lang="en-US" dirty="0"/>
              <a:t>This tells us management isn't just growing; they are scaling </a:t>
            </a:r>
            <a:r>
              <a:rPr lang="en-US" i="1" dirty="0"/>
              <a:t>efficiently</a:t>
            </a:r>
            <a:r>
              <a:rPr lang="en-US" dirty="0"/>
              <a:t> while capturing massive market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243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let's look at risk and leverage. While heavy investing naturally compressed their liquidity ratios slightly, the balance sheet remains rock solid</a:t>
            </a:r>
          </a:p>
          <a:p>
            <a:r>
              <a:rPr lang="en-US" b="1" dirty="0"/>
              <a:t>Liquidity:</a:t>
            </a:r>
            <a:r>
              <a:rPr lang="en-US" dirty="0"/>
              <a:t> The current ratio is safely above 1.0, backed by a robust </a:t>
            </a:r>
            <a:r>
              <a:rPr lang="en-US" b="1" dirty="0"/>
              <a:t>£17.6 million cash cushion</a:t>
            </a:r>
            <a:r>
              <a:rPr lang="en-US" dirty="0"/>
              <a:t>.</a:t>
            </a:r>
          </a:p>
          <a:p>
            <a:r>
              <a:rPr lang="en-US" b="1" dirty="0"/>
              <a:t>De-leveraging:</a:t>
            </a:r>
            <a:r>
              <a:rPr lang="en-US" dirty="0"/>
              <a:t> Total debt actually </a:t>
            </a:r>
            <a:r>
              <a:rPr lang="en-US" i="1" dirty="0"/>
              <a:t>dropped</a:t>
            </a:r>
            <a:r>
              <a:rPr lang="en-US" dirty="0"/>
              <a:t> from £9.6 million to £5.2 million.</a:t>
            </a:r>
          </a:p>
          <a:p>
            <a:r>
              <a:rPr lang="en-US" b="1" dirty="0"/>
              <a:t>Debt Service:</a:t>
            </a:r>
            <a:r>
              <a:rPr lang="en-US" dirty="0"/>
              <a:t> Thanks to lower debt and higher earnings, their interest coverage ratio improved dramatically to </a:t>
            </a:r>
            <a:r>
              <a:rPr lang="en-US" b="1" dirty="0"/>
              <a:t>nearly 15 times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18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Total assets increased by approximately 19% from £52.1 million to £62.1 million. Property, plant and equipment rose from £12.7 million to £18.9 million, reflecting continued investment in manufacturing infrastructure and sustainable production capabilities.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Operating cash flow nearly doubled to </a:t>
            </a:r>
            <a:r>
              <a:rPr lang="en-US" b="1" dirty="0"/>
              <a:t>£11.4 million</a:t>
            </a:r>
            <a:r>
              <a:rPr lang="en-US" dirty="0"/>
              <a:t>, proving their earnings are backed by hard cash.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Overall, the financial analysis indicates a financially healthy company with strong earnings growth, improving profitability, manageable leverage, and sufficient liquidity to support additional borrowing.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3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C63A7-5388-BF35-39DF-CD5D60B4A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66D886-BB74-CFE5-D75B-46528005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8E1C0-4AE8-1287-8BB6-847F3B466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- Both, EBITDA margin and operating margin doubled in 2023, indicating high profitability and efficiency.</a:t>
            </a:r>
          </a:p>
          <a:p>
            <a:r>
              <a:rPr lang="en-US" sz="1200" dirty="0"/>
              <a:t>- Current ratio has decreased from last year due to increase in liabilities and needs to be closely monitored.</a:t>
            </a:r>
          </a:p>
          <a:p>
            <a:r>
              <a:rPr lang="en-US" sz="1200" dirty="0"/>
              <a:t>- Leverage metric has dramatically reduced due to lesser debt and higher EBITDA.</a:t>
            </a:r>
          </a:p>
          <a:p>
            <a:r>
              <a:rPr lang="en-US" sz="1200" dirty="0"/>
              <a:t>- Cash flow/capital expenditure ratio changed due to higher capital expenditure, suggesting cautious investment strategies.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8BDF0-1E25-E21D-208A-73CC6A6ED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20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macro environment is highly favorable. Green Solutions benefits from market growth and regulatory tailwinds.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The global reusable coffee cup market is expected to grow at a </a:t>
            </a:r>
            <a:r>
              <a:rPr lang="en-US" sz="1200" b="1" dirty="0"/>
              <a:t>5.8% CAGR,</a:t>
            </a:r>
            <a:r>
              <a:rPr lang="en-US" sz="1200" dirty="0"/>
              <a:t> reaching </a:t>
            </a:r>
            <a:r>
              <a:rPr lang="en-US" sz="1200" b="1" dirty="0"/>
              <a:t>USD 25 billion </a:t>
            </a:r>
            <a:r>
              <a:rPr lang="en-US" sz="1200" dirty="0"/>
              <a:t>by 2031, while the reusable bottle market is projected to grow at a </a:t>
            </a:r>
            <a:r>
              <a:rPr lang="en-US" sz="1200" b="1" dirty="0"/>
              <a:t>CAGR of 2.8%</a:t>
            </a:r>
            <a:r>
              <a:rPr lang="en-US" sz="1200" dirty="0"/>
              <a:t>, crossing </a:t>
            </a:r>
            <a:r>
              <a:rPr lang="en-US" sz="1200" b="1" dirty="0"/>
              <a:t>$11.5 billion</a:t>
            </a:r>
            <a:r>
              <a:rPr lang="en-US" sz="1200" dirty="0"/>
              <a:t> by 2034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Tightening global restrictions on single-use plastics and stricter ESG mandates are actively pushing consumers and corporations straight toward Green Solutions' product catalog.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443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C5B62-3BF2-1008-80F1-3B794A0CD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238BE-C256-A369-B3E0-03F1B5D60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ECB98E-8607-1171-E343-F77873D09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regional insights,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reusable water bottles industry is expected to have the greatest growth in India with a CAGR of 6.5%, followed by China’s 4.7% CAGR.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Europe is expected to continue leading the reusable coffee mugs market with a CAGR of 6.5%, </a:t>
            </a:r>
            <a:r>
              <a:rPr lang="en-US"/>
              <a:t>and the </a:t>
            </a:r>
            <a:r>
              <a:rPr lang="en-US" dirty="0"/>
              <a:t>residential segment is </a:t>
            </a:r>
            <a:r>
              <a:rPr lang="en-GB" dirty="0"/>
              <a:t>growing at a CAGR of 6.1%.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48AB4-9727-666F-8C0F-5848193D7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2257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F1327-3C6F-3143-AC67-A6D0B3A16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00B633-1B61-6DC0-7699-C04DDB7B6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99D4B-2B1C-F0E6-3F46-AE8DC2716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Several macroeconomic factors could influence the company's future performance:</a:t>
            </a:r>
          </a:p>
          <a:p>
            <a:r>
              <a:rPr lang="en-US" dirty="0"/>
              <a:t>The positive factors include</a:t>
            </a:r>
          </a:p>
          <a:p>
            <a:r>
              <a:rPr lang="en-US" dirty="0"/>
              <a:t>- Growing preference for environmentally responsible products.</a:t>
            </a:r>
          </a:p>
          <a:p>
            <a:r>
              <a:rPr lang="en-US" dirty="0"/>
              <a:t>- Increasing corporate sustainability commitments.</a:t>
            </a:r>
          </a:p>
          <a:p>
            <a:r>
              <a:rPr lang="en-US" dirty="0"/>
              <a:t>- Expansion of ESG-focused investment and lending practices.</a:t>
            </a:r>
          </a:p>
          <a:p>
            <a:r>
              <a:rPr lang="en-US" dirty="0"/>
              <a:t>- Rising global awareness of climate change and waste reduction.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DB89C-0289-11D4-26B8-8067B3C12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9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1F00-A8E0-6430-5ACA-2A257D443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5DFA8-1408-DB87-CFD3-0F4B289E3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011324-9F3A-D185-A12B-AC255EC28F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Potential challenges are</a:t>
            </a:r>
          </a:p>
          <a:p>
            <a:r>
              <a:rPr lang="en-US" dirty="0"/>
              <a:t>- High interest rates and inflation can affect raw material and manufacturing cost</a:t>
            </a:r>
          </a:p>
          <a:p>
            <a:r>
              <a:rPr lang="en-US" dirty="0"/>
              <a:t>- Economic slowdowns may reduce discretionary consumer spending on premium sustainable products.</a:t>
            </a:r>
          </a:p>
          <a:p>
            <a:r>
              <a:rPr lang="en-US" dirty="0"/>
              <a:t>- Supply chain disruptions could impact production costs and inventory management.</a:t>
            </a:r>
          </a:p>
          <a:p>
            <a:r>
              <a:rPr lang="en-US" dirty="0"/>
              <a:t>However, the company’s stellar cash generation gives them an excellent buffer against these pressures.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82B0BB-0051-01EC-B0F8-7BDA369EF3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589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wrap up, Darren, Green Solutions presents a highly compelling credit profile with their strong financials, low credit risk profile, effective sustainability investments, favorable dynamics, and manageable risks.</a:t>
            </a:r>
          </a:p>
          <a:p>
            <a:r>
              <a:rPr lang="en-US" dirty="0"/>
              <a:t>From a credit perspective, the company is exceptionally well-positioned to service this additional borrowing. I recommend proceeding with the approval, subject to standard monitoring of their ongoing Capex returns and liquidity.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B48BA3-9AEE-42C6-B851-2722C9335B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07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E33F-C0E6-6DEA-674F-FEFE87C9E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AF998B-A0CB-3F22-7DFE-AF521574F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B1D88A-046F-1FCC-F1E8-F0EB6DB15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C3ECB-B739-9410-155E-8BACEB4D9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6D74-D985-FCB2-A273-7009C8FA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14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40834-3594-91DF-511F-174170BCA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6F9A7-FACC-BD99-84A7-192D6E79F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102BB-1413-F7E8-C0C7-592616D09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7A1FA-00DC-BAD5-E75E-4B250CF7E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1CE08-FFE7-7BA9-2663-3B04589B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28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BA3C6-DAC7-2521-38EC-E4795D6CC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35736-7270-6CFF-9B3F-70CD5CA03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2F6C1-63B5-0ACE-C353-AB67A1E5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68E4E-182A-3A76-8436-E0E275731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FE9A3-FC9A-4AAC-65A6-83E6653DA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70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208B7-CAFC-E935-95D7-A89F32242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94B75-A2DC-7982-EB00-2C6D8D113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366A-1980-6260-825C-D2686B3BF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B8CD5B-5006-5172-1F46-6670E7F07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2B3B05-DD54-F8F9-8802-C825C2407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818C4E-F45D-9863-DA00-48C769E35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732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76C10-04D6-2FCB-F160-E4536582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3B76D-80F9-9F14-324D-8825C4364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CDE066-732D-1B1E-E734-3B192E752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82DD39-0D4D-F9C1-05FF-90B9597B7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88992F-AC70-6677-4DCA-41B9D221C4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AC82E5-FA20-0FFD-B8CB-870B85DA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7322B7-BC5E-9EBB-8ECD-E2DE1D6D4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6EE7A-D4EE-496E-B43F-DE62C5CA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71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3846F-A344-03F7-96DF-315DE5234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6D95ED-D7B5-F6E7-72EC-F3FC92F0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4FC4C-E702-C810-9E9C-E21944F6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75F374-089D-5025-1A4F-884169BED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6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108126-5EB6-12F2-C35F-98099199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70019-2B34-9DE1-ADB0-0458D7198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3F3484-9C74-193E-5635-996D685C1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066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996FE-8637-2D1B-560E-E45EC39AB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8720-2E25-6236-84E6-421BBBDA6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B3F9-7BC0-B93A-7CF3-653FAF05CB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E6F626-2782-614C-B552-94735C10B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920704-C9FC-1623-901C-A2238390ED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3BB88A-3EC8-F07B-496A-9309CF95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431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67DA-197D-C8A9-5796-7DA4987F9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699A80-564B-0ADB-1013-87C222A00D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8C620A-5411-70AC-6F16-B6DCF1B8C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25DDB-F095-ADF8-C37D-14C6BDA95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AD8F8-FE58-8D11-7287-6DBC58E0B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AC439-F59E-8344-721B-975FADA8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43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CA99C-B956-B72D-2D90-66C9F98FC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0C71FE-3263-E45B-FBE9-CF8D78BE2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E02CC-A0B3-0928-E62B-370DF8816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00BB-FE81-C317-ED10-51E30B93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A1D7E-C6C0-33DD-F9CD-DD0BD93AE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824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53D31A-0218-BD09-16ED-609F413F0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A4EFB9-AC16-51D4-BBDF-180B863DE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C4778-E072-D59C-43A2-45819350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2E1D8-CCAA-C40B-119B-84954184F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5CA4F-F481-C8F2-EF1C-480D3FDF3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70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D7E23-92F4-EE6A-A146-E89728895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BFC3B-2B84-8ED4-CE7E-1878F4435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6A41D-13D3-6D02-8BAC-FC20CB407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37970A-D9A3-4053-8466-13778B20B0C3}" type="datetimeFigureOut">
              <a:rPr lang="en-US" smtClean="0"/>
              <a:t>01-Jul-26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489240-5DF7-AB27-6E7B-7F1C61D7B8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93B51-227E-37DE-37A0-572BD602B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FCF238-19C0-4AE6-8797-4ECCAB3A97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73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4D811-9D02-A3D5-3EDD-E4026158A9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Credit Analysis – Green Solutions Manufacturing Ltd.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9AAD-1C33-4B89-5EA7-59E0E17B33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Shreya</a:t>
            </a:r>
            <a:endParaRPr lang="en-US"/>
          </a:p>
          <a:p>
            <a:pPr algn="l"/>
            <a:r>
              <a:rPr lang="en-US" dirty="0"/>
              <a:t>Credit Analyst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670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0D8D56-D012-2303-DCD0-B14FFD225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Corporate Profile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FECAA-B4C3-3865-4B8F-47880AD208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Who they are:</a:t>
            </a:r>
            <a:r>
              <a:rPr lang="en-US" sz="2400" dirty="0"/>
              <a:t> A UK-headquartered global leader in eco-friendly, reusable drinkware (water bottles and coffee cups), serving over 50 million customers.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The Strategy:</a:t>
            </a:r>
            <a:r>
              <a:rPr lang="en-US" sz="2400" dirty="0"/>
              <a:t> They are heavily committed to green tech. Since 2022, they’ve boosted sustainability capital expenditure by </a:t>
            </a:r>
            <a:r>
              <a:rPr lang="en-US" sz="2400" b="1" dirty="0"/>
              <a:t>150%</a:t>
            </a:r>
            <a:r>
              <a:rPr lang="en-US" sz="2400" dirty="0"/>
              <a:t>, funded through a healthy mix of internal cash and external debt.</a:t>
            </a:r>
          </a:p>
        </p:txBody>
      </p:sp>
    </p:spTree>
    <p:extLst>
      <p:ext uri="{BB962C8B-B14F-4D97-AF65-F5344CB8AC3E}">
        <p14:creationId xmlns:p14="http://schemas.microsoft.com/office/powerpoint/2010/main" val="3245988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C4976-D97D-9AD5-9102-3B502F92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E685-E1E7-B40B-F489-6C266A38F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Revenue</a:t>
            </a:r>
            <a:r>
              <a:rPr lang="en-US" sz="2400" dirty="0"/>
              <a:t> increased </a:t>
            </a:r>
            <a:r>
              <a:rPr lang="en-US" sz="2400" b="1" dirty="0"/>
              <a:t>70.7% YoY, </a:t>
            </a:r>
            <a:r>
              <a:rPr lang="en-US" sz="2400" dirty="0"/>
              <a:t>from £31.5 million to £53.8 million.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Net Profit</a:t>
            </a:r>
            <a:r>
              <a:rPr lang="en-US" sz="2400" dirty="0"/>
              <a:t> skyrocketed over </a:t>
            </a:r>
            <a:r>
              <a:rPr lang="en-US" sz="2400" b="1" dirty="0"/>
              <a:t>sixfold</a:t>
            </a:r>
            <a:r>
              <a:rPr lang="en-US" sz="2400" dirty="0"/>
              <a:t>, reaching £5.6 million.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Margins &amp; Returns:</a:t>
            </a:r>
            <a:r>
              <a:rPr lang="en-US" sz="2400" dirty="0"/>
              <a:t> Operating margins nearly doubled to 12.12% in 2023.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ROA</a:t>
            </a:r>
            <a:r>
              <a:rPr lang="en-US" sz="2400" dirty="0"/>
              <a:t> and </a:t>
            </a:r>
            <a:r>
              <a:rPr lang="en-US" sz="2400" b="1" dirty="0"/>
              <a:t>ROE</a:t>
            </a:r>
            <a:r>
              <a:rPr lang="en-US" sz="2400" dirty="0"/>
              <a:t> increased more than </a:t>
            </a:r>
            <a:r>
              <a:rPr lang="en-US" sz="2400" b="1" dirty="0"/>
              <a:t>sixfold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59850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101C5-56B4-722E-FE06-42FA2B527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Liquidity &amp; Debt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679FA-9832-8BAE-FF07-E96486B537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Liquidity:</a:t>
            </a:r>
            <a:r>
              <a:rPr lang="en-US" sz="2400" dirty="0"/>
              <a:t> The current ratio is safely above 1.0, backed by a robust </a:t>
            </a:r>
            <a:r>
              <a:rPr lang="en-US" sz="2400" b="1" dirty="0"/>
              <a:t>£17.6 million cash cushion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De-leveraging:</a:t>
            </a:r>
            <a:r>
              <a:rPr lang="en-US" sz="2400" dirty="0"/>
              <a:t> Total debt </a:t>
            </a:r>
            <a:r>
              <a:rPr lang="en-US" sz="2400" i="1" dirty="0"/>
              <a:t>dropped</a:t>
            </a:r>
            <a:r>
              <a:rPr lang="en-US" sz="2400" dirty="0"/>
              <a:t> from £9.6 million to £5.2 million in 2023</a:t>
            </a:r>
          </a:p>
          <a:p>
            <a:endParaRPr lang="en-US" sz="2400" dirty="0"/>
          </a:p>
          <a:p>
            <a:r>
              <a:rPr lang="en-US" sz="2400" b="1" dirty="0"/>
              <a:t>Debt Service:</a:t>
            </a:r>
            <a:r>
              <a:rPr lang="en-US" sz="2400" dirty="0"/>
              <a:t> Their interest coverage ratio improved dramatically to </a:t>
            </a:r>
            <a:r>
              <a:rPr lang="en-US" sz="2400" b="1" dirty="0"/>
              <a:t>nearly 15 times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81583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1AC5A-F5BB-7C46-7CED-11F4E9223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Assets &amp; Cash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775BC-E67E-8BDD-A882-7C06050B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Asset Growth:</a:t>
            </a:r>
            <a:r>
              <a:rPr lang="en-US" sz="2400" dirty="0"/>
              <a:t> Total assets grew 19% to £62.1 million, driven by infrastructure investments.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Cash Generation:</a:t>
            </a:r>
            <a:r>
              <a:rPr lang="en-US" sz="2400" dirty="0"/>
              <a:t> Operating cash flow nearly doubled to </a:t>
            </a:r>
            <a:r>
              <a:rPr lang="en-US" sz="2400" b="1" dirty="0"/>
              <a:t>£11.4 million</a:t>
            </a:r>
            <a:r>
              <a:rPr lang="en-US" sz="2400" dirty="0"/>
              <a:t>, proving their earnings are backed by hard cash.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9342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87D47-B485-C727-0740-6D92A2D5F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D551FB-B142-E1BB-1E1A-7BE002953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6E8505-F342-343A-49AC-9FED51AFF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CE87B7-F370-B56F-ADAA-5E42B1A20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CB3251-24B6-F338-B4B7-16CAB7E96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E10B45-0F34-FDB4-FD32-CABED8C2D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B38B87-415C-1BFE-149D-28B34094B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Key Financial Ratios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ABC60-0C61-7089-8269-633BF5E21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970027"/>
            <a:ext cx="9724031" cy="449767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Both, </a:t>
            </a:r>
            <a:r>
              <a:rPr lang="en-US" sz="2400" b="1" dirty="0"/>
              <a:t>EBITDA margin </a:t>
            </a:r>
            <a:r>
              <a:rPr lang="en-US" sz="2400" dirty="0"/>
              <a:t>and </a:t>
            </a:r>
            <a:r>
              <a:rPr lang="en-US" sz="2400" b="1" dirty="0"/>
              <a:t>operating margin doubled </a:t>
            </a:r>
            <a:r>
              <a:rPr lang="en-US" sz="2400" dirty="0"/>
              <a:t>in 2023, indicating high profitability and efficiency.</a:t>
            </a:r>
          </a:p>
          <a:p>
            <a:endParaRPr lang="en-US" sz="2400" dirty="0"/>
          </a:p>
          <a:p>
            <a:r>
              <a:rPr lang="en-US" sz="2400" b="1" dirty="0"/>
              <a:t>Current ratio </a:t>
            </a:r>
            <a:r>
              <a:rPr lang="en-US" sz="2400" dirty="0"/>
              <a:t>has </a:t>
            </a:r>
            <a:r>
              <a:rPr lang="en-US" sz="2400" b="1" dirty="0"/>
              <a:t>decreased</a:t>
            </a:r>
            <a:r>
              <a:rPr lang="en-US" sz="2400" dirty="0"/>
              <a:t> from last year due to increase in liabilities and needs to be closely monitored.</a:t>
            </a:r>
          </a:p>
          <a:p>
            <a:endParaRPr lang="en-US" sz="2400" dirty="0"/>
          </a:p>
          <a:p>
            <a:r>
              <a:rPr lang="en-US" sz="2400" b="1" dirty="0"/>
              <a:t>Leverage metric </a:t>
            </a:r>
            <a:r>
              <a:rPr lang="en-US" sz="2400" dirty="0"/>
              <a:t>has dramatically </a:t>
            </a:r>
            <a:r>
              <a:rPr lang="en-US" sz="2400" b="1" dirty="0"/>
              <a:t>reduced</a:t>
            </a:r>
            <a:r>
              <a:rPr lang="en-US" sz="2400" dirty="0"/>
              <a:t> due to lesser debt and higher EBITDA.</a:t>
            </a:r>
          </a:p>
          <a:p>
            <a:endParaRPr lang="en-US" sz="2400" dirty="0"/>
          </a:p>
          <a:p>
            <a:r>
              <a:rPr lang="en-US" sz="2400" dirty="0"/>
              <a:t>Cash flow/capital expenditure ratio changed due to higher capital expenditure, suggesting cautious investment strategies.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11718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60B711-2C78-AF68-FAF1-FDB2CC9DA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Market Drivers &amp; Regulations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50FA4-BB99-1C93-0BB1-CE27037ED8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Market Growth:</a:t>
            </a:r>
            <a:r>
              <a:rPr lang="en-US" sz="2400" dirty="0"/>
              <a:t> The global reusable coffee cup market is expected to grow at a </a:t>
            </a:r>
            <a:r>
              <a:rPr lang="en-US" sz="2400" b="1" dirty="0"/>
              <a:t>5.8% CAGR,</a:t>
            </a:r>
            <a:r>
              <a:rPr lang="en-US" sz="2400" dirty="0"/>
              <a:t> reaching </a:t>
            </a:r>
            <a:r>
              <a:rPr lang="en-US" sz="2400" b="1" dirty="0"/>
              <a:t>USD 25 billion </a:t>
            </a:r>
            <a:r>
              <a:rPr lang="en-US" sz="2400" dirty="0"/>
              <a:t>by 2031, while the reusable bottle market is projected to grow at a </a:t>
            </a:r>
            <a:r>
              <a:rPr lang="en-US" sz="2400" b="1" dirty="0"/>
              <a:t>CAGR of 2.8%</a:t>
            </a:r>
            <a:r>
              <a:rPr lang="en-US" sz="2400" dirty="0"/>
              <a:t>, crossing </a:t>
            </a:r>
            <a:r>
              <a:rPr lang="en-US" sz="2400" b="1" dirty="0"/>
              <a:t>$11.5 billion</a:t>
            </a:r>
            <a:r>
              <a:rPr lang="en-US" sz="2400" dirty="0"/>
              <a:t> by 2034.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b="1" dirty="0"/>
              <a:t>Regulation:</a:t>
            </a:r>
            <a:r>
              <a:rPr lang="en-US" sz="2400" dirty="0"/>
              <a:t> Tightening global restrictions on single-use plastics and stricter ESG mandates are actively pushing consumers and corporations straight toward Green Solutions' product catalog.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800195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51DBA-E084-DA11-AF43-96439BA9A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0FBE59C-10F8-D849-5E86-1BD358F4C9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F873B1-EAB5-0B02-5D41-AF96C072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18B8B4-7EC3-8C10-D103-9E8A47E4F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E63A00-ACB8-7E91-FE44-01057F6A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BB077A-439E-74B7-5B8C-43976DBA0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704A71-116B-FCF5-E881-93453E93C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Regional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50D2-6363-EF33-280E-6DB63A70A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344" y="2058177"/>
            <a:ext cx="10125308" cy="4116057"/>
          </a:xfrm>
        </p:spPr>
        <p:txBody>
          <a:bodyPr anchor="ctr">
            <a:normAutofit/>
          </a:bodyPr>
          <a:lstStyle/>
          <a:p>
            <a:r>
              <a:rPr lang="en-US" sz="2400" b="1" dirty="0"/>
              <a:t>Reusable Water Bottles</a:t>
            </a:r>
          </a:p>
          <a:p>
            <a:pPr lvl="1"/>
            <a:r>
              <a:rPr lang="en-US" dirty="0"/>
              <a:t>The greatest growth is expected in India (6.5% CAGR), followed by China (4.7% CAGR).</a:t>
            </a:r>
          </a:p>
          <a:p>
            <a:pPr lvl="1"/>
            <a:endParaRPr lang="en-US" dirty="0"/>
          </a:p>
          <a:p>
            <a:r>
              <a:rPr lang="en-US" sz="2400" b="1" dirty="0"/>
              <a:t>Reusable Coffee Mugs</a:t>
            </a:r>
          </a:p>
          <a:p>
            <a:pPr lvl="1"/>
            <a:r>
              <a:rPr lang="en-US" dirty="0"/>
              <a:t>Europe is expected to continue leading the market with a CAGR of 6.5%.</a:t>
            </a:r>
          </a:p>
          <a:p>
            <a:pPr lvl="1"/>
            <a:r>
              <a:rPr lang="en-US" dirty="0"/>
              <a:t>The residential segment is </a:t>
            </a:r>
            <a:r>
              <a:rPr lang="en-GB" dirty="0"/>
              <a:t>growing at a CAGR of 6.1%.</a:t>
            </a:r>
          </a:p>
        </p:txBody>
      </p:sp>
    </p:spTree>
    <p:extLst>
      <p:ext uri="{BB962C8B-B14F-4D97-AF65-F5344CB8AC3E}">
        <p14:creationId xmlns:p14="http://schemas.microsoft.com/office/powerpoint/2010/main" val="5247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1085A-CD10-60AF-A298-5AF4D06D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EE61DFC-A3CD-ADC7-4BAC-BF094C5394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BBFBAD-7727-7A8C-5425-B9D6E721A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9D901E-FC71-5F9F-4E0B-C54CE86FB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A09368-BB8F-F78C-4EFF-1450320E6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CAD872-61A4-3CDF-C179-2C8EAF6FC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EF94D-A475-D828-DCFF-BC75291F4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341" y="294538"/>
            <a:ext cx="10431209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Macroeconomic Considerations: Positive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0BFA0-F273-AD2B-5376-3BC0EC29E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Growing preference for environmentally responsible products.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Increasing corporate sustainability commitments.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Expansion of ESG-focused investment and lending practices.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Rising awareness of climate change and waste reduction.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2312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BFCD17-441E-BE63-A55D-C510922B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78927F-FE79-CB18-8304-D61BF6F32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ADEC3-BCA1-0F8E-5ACC-2BEA09EDA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A1B99D-9BDA-FA3D-05B6-990BCBFD9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70181F-8C79-FC08-A971-B8A9DD54A9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61CFCF-322D-5978-5716-C314122C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CA52C6-17AF-581A-C01F-46B3997D0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561" y="294538"/>
            <a:ext cx="11285034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Macroeconomic Considerations: Potential 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88806-63DE-F8CC-51B1-FAFD6EFA8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/>
              <a:t>High interest rates and inflation can affect raw material and manufacturing cost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Economic slowdowns may reduce discretionary consumer spending on premium sustainable products.</a:t>
            </a:r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Supply chain disruptions could impact production costs and inventory management.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64479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A173562-7DD4-2B3F-8200-6E5AF8AD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DCAF72A-26B5-3D83-7BAD-13AB79950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891970"/>
            <a:ext cx="9724031" cy="4553435"/>
          </a:xfrm>
        </p:spPr>
        <p:txBody>
          <a:bodyPr anchor="ctr">
            <a:normAutofit lnSpcReduction="10000"/>
          </a:bodyPr>
          <a:lstStyle/>
          <a:p>
            <a:r>
              <a:rPr lang="en-US" sz="2400" b="1" dirty="0"/>
              <a:t>Strong Financials:</a:t>
            </a:r>
            <a:r>
              <a:rPr lang="en-US" sz="2400" dirty="0"/>
              <a:t> Exceptional growth, rising margins, and robust cash generation.</a:t>
            </a:r>
          </a:p>
          <a:p>
            <a:endParaRPr lang="en-US" sz="2400" dirty="0"/>
          </a:p>
          <a:p>
            <a:r>
              <a:rPr lang="en-US" sz="2400" b="1" dirty="0"/>
              <a:t>Low Credit Risk:</a:t>
            </a:r>
            <a:r>
              <a:rPr lang="en-US" sz="2400" dirty="0"/>
              <a:t> Exceptional interest coverage (15x) and a declining debt profile.</a:t>
            </a:r>
          </a:p>
          <a:p>
            <a:endParaRPr lang="en-US" sz="2400" dirty="0"/>
          </a:p>
          <a:p>
            <a:r>
              <a:rPr lang="en-US" sz="2400" b="1" dirty="0"/>
              <a:t>Effective Sustainability Investments</a:t>
            </a:r>
            <a:r>
              <a:rPr lang="en-US" sz="2400" dirty="0"/>
              <a:t>: Capital expenditures on sustainable manufacturing infrastructure are benefiting the company, as seen by improved operating margins and cash flows.</a:t>
            </a:r>
          </a:p>
          <a:p>
            <a:endParaRPr lang="en-US" sz="2400" dirty="0"/>
          </a:p>
          <a:p>
            <a:r>
              <a:rPr lang="en-US" sz="2400" b="1" dirty="0"/>
              <a:t>Favorable Industry Dynamics:</a:t>
            </a:r>
            <a:r>
              <a:rPr lang="en-US" sz="2400" dirty="0"/>
              <a:t> Strong regulatory and consumer tailwinds.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53895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1367</Words>
  <Application>Microsoft Office PowerPoint</Application>
  <PresentationFormat>Widescreen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Credit Analysis – Green Solutions Manufacturing Ltd.</vt:lpstr>
      <vt:lpstr>Corporate Profile</vt:lpstr>
      <vt:lpstr>Profitability</vt:lpstr>
      <vt:lpstr>Liquidity &amp; Debt Metrics</vt:lpstr>
      <vt:lpstr>Assets &amp; Cash Flow</vt:lpstr>
      <vt:lpstr>Key Financial Ratios</vt:lpstr>
      <vt:lpstr>Market Drivers &amp; Regulations</vt:lpstr>
      <vt:lpstr>Regional Insights</vt:lpstr>
      <vt:lpstr>Macroeconomic Considerations: Positive Factors</vt:lpstr>
      <vt:lpstr>Macroeconomic Considerations: Potential Challenges</vt:lpstr>
      <vt:lpstr>Key Findings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 Doodipala</dc:creator>
  <cp:lastModifiedBy>Shreya Doodipala</cp:lastModifiedBy>
  <cp:revision>11</cp:revision>
  <dcterms:created xsi:type="dcterms:W3CDTF">2026-06-25T06:26:46Z</dcterms:created>
  <dcterms:modified xsi:type="dcterms:W3CDTF">2026-07-01T06:34:29Z</dcterms:modified>
</cp:coreProperties>
</file>